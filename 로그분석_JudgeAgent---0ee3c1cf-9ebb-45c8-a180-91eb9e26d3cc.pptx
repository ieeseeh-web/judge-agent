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412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91440"/>
            <a:ext cx="6583680" cy="6583680"/>
          </a:xfrm>
          <a:prstGeom prst="ellipse">
            <a:avLst/>
          </a:prstGeom>
          <a:ln w="13970">
            <a:solidFill>
              <a:srgbClr val="2341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589520" y="914400"/>
            <a:ext cx="4937760" cy="4937760"/>
          </a:xfrm>
          <a:prstGeom prst="ellipse">
            <a:avLst/>
          </a:prstGeom>
          <a:ln w="13970">
            <a:solidFill>
              <a:srgbClr val="0B7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412480" y="1737360"/>
            <a:ext cx="3291840" cy="3291840"/>
          </a:xfrm>
          <a:prstGeom prst="ellipse">
            <a:avLst/>
          </a:prstGeom>
          <a:ln w="13970">
            <a:solidFill>
              <a:srgbClr val="2341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0" y="2468880"/>
            <a:ext cx="1828800" cy="1828800"/>
          </a:xfrm>
          <a:prstGeom prst="ellipse">
            <a:avLst/>
          </a:prstGeom>
          <a:ln w="25400">
            <a:solidFill>
              <a:srgbClr val="0B7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893808" y="3218688"/>
            <a:ext cx="329184" cy="329184"/>
          </a:xfrm>
          <a:prstGeom prst="ellipse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1600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EA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LLM-READY LOG ANALYSIS  ·  AGENT RELIABILITY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201168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대용량 로그 분석 &amp;</a:t>
            </a:r>
            <a:endParaRPr lang="en-US" sz="5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 Agent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66928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로그를 템플릿으로 압축해 LLM에 넣고, 에이전트의 drift를 telemetry로 관측·검증한다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4892040"/>
            <a:ext cx="921715" cy="384048"/>
          </a:xfrm>
          <a:prstGeom prst="roundRect">
            <a:avLst>
              <a:gd name="adj" fmla="val 50000"/>
            </a:avLst>
          </a:prstGeom>
          <a:solidFill>
            <a:srgbClr val="16293B"/>
          </a:solidFill>
          <a:ln w="12700">
            <a:solidFill>
              <a:srgbClr val="2C4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66928" y="4892040"/>
            <a:ext cx="9217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689811" y="4892040"/>
            <a:ext cx="921715" cy="384048"/>
          </a:xfrm>
          <a:prstGeom prst="roundRect">
            <a:avLst>
              <a:gd name="adj" fmla="val 50000"/>
            </a:avLst>
          </a:prstGeom>
          <a:solidFill>
            <a:srgbClr val="16293B"/>
          </a:solidFill>
          <a:ln w="12700">
            <a:solidFill>
              <a:srgbClr val="2C4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689811" y="4892040"/>
            <a:ext cx="9217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12694" y="4892040"/>
            <a:ext cx="1217981" cy="384048"/>
          </a:xfrm>
          <a:prstGeom prst="roundRect">
            <a:avLst>
              <a:gd name="adj" fmla="val 50000"/>
            </a:avLst>
          </a:prstGeom>
          <a:solidFill>
            <a:srgbClr val="16293B"/>
          </a:solidFill>
          <a:ln w="12700">
            <a:solidFill>
              <a:srgbClr val="2C4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812694" y="4892040"/>
            <a:ext cx="12179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31843" y="4892040"/>
            <a:ext cx="1810512" cy="384048"/>
          </a:xfrm>
          <a:prstGeom prst="roundRect">
            <a:avLst>
              <a:gd name="adj" fmla="val 50000"/>
            </a:avLst>
          </a:prstGeom>
          <a:solidFill>
            <a:srgbClr val="16293B"/>
          </a:solidFill>
          <a:ln w="12700">
            <a:solidFill>
              <a:srgbClr val="2C4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231843" y="489204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Drift Telemetry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43523" y="4892040"/>
            <a:ext cx="1415491" cy="384048"/>
          </a:xfrm>
          <a:prstGeom prst="roundRect">
            <a:avLst>
              <a:gd name="adj" fmla="val 50000"/>
            </a:avLst>
          </a:prstGeom>
          <a:solidFill>
            <a:srgbClr val="16293B"/>
          </a:solidFill>
          <a:ln w="12700">
            <a:solidFill>
              <a:srgbClr val="2C4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243523" y="4892040"/>
            <a:ext cx="14154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 Agent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2026.05.29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0EA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구성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003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91440" cy="3931920"/>
          </a:xfrm>
          <a:prstGeom prst="rect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50976" y="2121408"/>
            <a:ext cx="841248" cy="841248"/>
          </a:xfrm>
          <a:prstGeom prst="ellipse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113" y="2348545"/>
            <a:ext cx="386974" cy="3869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29968" y="2157984"/>
            <a:ext cx="356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029968" y="2414016"/>
            <a:ext cx="356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대용량 로그 분석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87552" y="3255264"/>
            <a:ext cx="447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Drain3 + pandas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87552" y="3584448"/>
            <a:ext cx="447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로그를 소수의 템플릿으로 압축하고, 원본–템플릿 매핑을 SQL식으로 질의해 LLM 분석에 사용한다.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87552" y="4572000"/>
            <a:ext cx="576072" cy="365760"/>
          </a:xfrm>
          <a:prstGeom prst="roundRect">
            <a:avLst>
              <a:gd name="adj" fmla="val 50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987552" y="4572000"/>
            <a:ext cx="576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709928" y="4572000"/>
            <a:ext cx="1214323" cy="365760"/>
          </a:xfrm>
          <a:prstGeom prst="roundRect">
            <a:avLst>
              <a:gd name="adj" fmla="val 50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1709928" y="4572000"/>
            <a:ext cx="12143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아이디어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070555" y="4572000"/>
            <a:ext cx="1570939" cy="365760"/>
          </a:xfrm>
          <a:prstGeom prst="roundRect">
            <a:avLst>
              <a:gd name="adj" fmla="val 50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3070555" y="4572000"/>
            <a:ext cx="15709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 · 매핑 · 질의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87552" y="5047488"/>
            <a:ext cx="1001268" cy="365760"/>
          </a:xfrm>
          <a:prstGeom prst="roundRect">
            <a:avLst>
              <a:gd name="adj" fmla="val 50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987552" y="5047488"/>
            <a:ext cx="1001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워크플로우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324448" y="1737360"/>
            <a:ext cx="53003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6324448" y="1737360"/>
            <a:ext cx="91440" cy="3931920"/>
          </a:xfrm>
          <a:prstGeom prst="rect">
            <a:avLst/>
          </a:prstGeom>
          <a:solidFill>
            <a:srgbClr val="E892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6708496" y="2121408"/>
            <a:ext cx="841248" cy="841248"/>
          </a:xfrm>
          <a:prstGeom prst="ellipse">
            <a:avLst/>
          </a:prstGeom>
          <a:solidFill>
            <a:srgbClr val="E8920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5633" y="2348545"/>
            <a:ext cx="386974" cy="38697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787488" y="2157984"/>
            <a:ext cx="356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787488" y="2414016"/>
            <a:ext cx="356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 Agent &amp; Drift Telemetry</a:t>
            </a:r>
            <a:endParaRPr lang="en-US" sz="1750" dirty="0"/>
          </a:p>
        </p:txBody>
      </p:sp>
      <p:sp>
        <p:nvSpPr>
          <p:cNvPr id="26" name="Text 22"/>
          <p:cNvSpPr/>
          <p:nvPr/>
        </p:nvSpPr>
        <p:spPr>
          <a:xfrm>
            <a:off x="6745072" y="3255264"/>
            <a:ext cx="447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9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Engineering · LangGraph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745072" y="3584448"/>
            <a:ext cx="447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가능한 AI 에이전트를 위한 컨텍스트 설계, LangGraph 구조화, Drift 관측과 Judge Agent 검증.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745072" y="4572000"/>
            <a:ext cx="1077163" cy="365760"/>
          </a:xfrm>
          <a:prstGeom prst="roundRect">
            <a:avLst>
              <a:gd name="adj" fmla="val 50000"/>
            </a:avLst>
          </a:prstGeom>
          <a:solidFill>
            <a:srgbClr val="FBEB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/>
          <p:nvPr/>
        </p:nvSpPr>
        <p:spPr>
          <a:xfrm>
            <a:off x="6745072" y="4572000"/>
            <a:ext cx="10771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A62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Drift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968539" y="4572000"/>
            <a:ext cx="1647749" cy="365760"/>
          </a:xfrm>
          <a:prstGeom prst="roundRect">
            <a:avLst>
              <a:gd name="adj" fmla="val 50000"/>
            </a:avLst>
          </a:prstGeom>
          <a:solidFill>
            <a:srgbClr val="FBEB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/>
          <p:nvPr/>
        </p:nvSpPr>
        <p:spPr>
          <a:xfrm>
            <a:off x="7968539" y="4572000"/>
            <a:ext cx="16477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A62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Engineering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6745072" y="5047488"/>
            <a:ext cx="1790395" cy="365760"/>
          </a:xfrm>
          <a:prstGeom prst="roundRect">
            <a:avLst>
              <a:gd name="adj" fmla="val 50000"/>
            </a:avLst>
          </a:prstGeom>
          <a:solidFill>
            <a:srgbClr val="FBEB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/>
          <p:nvPr/>
        </p:nvSpPr>
        <p:spPr>
          <a:xfrm>
            <a:off x="6745072" y="5047488"/>
            <a:ext cx="17903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A62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· Telemetry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8681771" y="5047488"/>
            <a:ext cx="1077163" cy="365760"/>
          </a:xfrm>
          <a:prstGeom prst="roundRect">
            <a:avLst>
              <a:gd name="adj" fmla="val 50000"/>
            </a:avLst>
          </a:prstGeom>
          <a:solidFill>
            <a:srgbClr val="FBEB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1"/>
          <p:cNvSpPr/>
          <p:nvPr/>
        </p:nvSpPr>
        <p:spPr>
          <a:xfrm>
            <a:off x="8681771" y="5047488"/>
            <a:ext cx="10771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A62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 Agent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3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대용량 로그 분석 &amp; Judge Agent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9795967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0EA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대용량 로그 분석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로그를 그대로 LLM에 넣을 수 없다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환경은 매일 수백만 줄의 로그를 쏟아냅니다. 가공 없이 LLM으로 분석하려 하면 세 가지 벽에 부딪칩니다.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240280"/>
            <a:ext cx="3472586" cy="3383280"/>
          </a:xfrm>
          <a:prstGeom prst="roundRect">
            <a:avLst>
              <a:gd name="adj" fmla="val 2703"/>
            </a:avLst>
          </a:prstGeom>
          <a:solidFill>
            <a:srgbClr val="F7FAFB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3472586" cy="82296"/>
          </a:xfrm>
          <a:prstGeom prst="rect">
            <a:avLst/>
          </a:prstGeom>
          <a:solidFill>
            <a:srgbClr val="E892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78408" y="2697480"/>
            <a:ext cx="841248" cy="841248"/>
          </a:xfrm>
          <a:prstGeom prst="ellipse">
            <a:avLst/>
          </a:prstGeom>
          <a:solidFill>
            <a:srgbClr val="FBEBC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545" y="2924617"/>
            <a:ext cx="386974" cy="3869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942234" y="262432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BD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978408" y="3794760"/>
            <a:ext cx="2649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한계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78408" y="4297680"/>
            <a:ext cx="264962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수십만 줄 로그는 모델의 토큰 한도를 즉시 초과 — 분석 자체가 불가능합니다.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59554" y="2240280"/>
            <a:ext cx="3472586" cy="3383280"/>
          </a:xfrm>
          <a:prstGeom prst="roundRect">
            <a:avLst>
              <a:gd name="adj" fmla="val 2703"/>
            </a:avLst>
          </a:prstGeom>
          <a:solidFill>
            <a:srgbClr val="F7FAFB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359554" y="2240280"/>
            <a:ext cx="3472586" cy="82296"/>
          </a:xfrm>
          <a:prstGeom prst="rect">
            <a:avLst/>
          </a:prstGeom>
          <a:solidFill>
            <a:srgbClr val="E892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771034" y="2697480"/>
            <a:ext cx="841248" cy="841248"/>
          </a:xfrm>
          <a:prstGeom prst="ellipse">
            <a:avLst/>
          </a:prstGeom>
          <a:solidFill>
            <a:srgbClr val="FBEBC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171" y="2924617"/>
            <a:ext cx="386974" cy="38697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734861" y="262432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BD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4771034" y="3794760"/>
            <a:ext cx="2649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= 비용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771034" y="4297680"/>
            <a:ext cx="264962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거의 동일한 로그가 반복되는데, 그 중복분에까지 토큰 비용을 그대로 지불합니다.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152181" y="2240280"/>
            <a:ext cx="3472586" cy="3383280"/>
          </a:xfrm>
          <a:prstGeom prst="roundRect">
            <a:avLst>
              <a:gd name="adj" fmla="val 2703"/>
            </a:avLst>
          </a:prstGeom>
          <a:solidFill>
            <a:srgbClr val="F7FAFB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8152181" y="2240280"/>
            <a:ext cx="3472586" cy="82296"/>
          </a:xfrm>
          <a:prstGeom prst="rect">
            <a:avLst/>
          </a:prstGeom>
          <a:solidFill>
            <a:srgbClr val="E892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8563661" y="2697480"/>
            <a:ext cx="841248" cy="841248"/>
          </a:xfrm>
          <a:prstGeom prst="ellipse">
            <a:avLst/>
          </a:prstGeom>
          <a:solidFill>
            <a:srgbClr val="FBEBC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0798" y="2924617"/>
            <a:ext cx="386974" cy="3869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527487" y="262432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BD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400" dirty="0"/>
          </a:p>
        </p:txBody>
      </p:sp>
      <p:sp>
        <p:nvSpPr>
          <p:cNvPr id="24" name="Text 19"/>
          <p:cNvSpPr/>
          <p:nvPr/>
        </p:nvSpPr>
        <p:spPr>
          <a:xfrm>
            <a:off x="8563661" y="3794760"/>
            <a:ext cx="2649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 희석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563661" y="4297680"/>
            <a:ext cx="264962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패턴의 반복이 정작 중요한 이상 징후를 묻어 분석 정확도를 떨어뜨립니다.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대용량 로그 분석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9795967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0EA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핵심 아이디어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로그는 사실 소수의 반복 패턴이다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대부분의 로그는 변하는 값(사용자·IP·시간)만 다를 뿐 구조는 동일합니다.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26517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변하는 값을 </a:t>
            </a:r>
            <a:r>
              <a:rPr lang="en-US" sz="1350" b="1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&lt;*&gt;</a:t>
            </a:r>
            <a:r>
              <a:rPr lang="en-US" sz="13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치환하면 중복이 사라지고, 수만 줄이 소수의 템플릿으로 압축됩니다.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3931920"/>
            <a:ext cx="5029200" cy="1417320"/>
          </a:xfrm>
          <a:prstGeom prst="roundRect">
            <a:avLst>
              <a:gd name="adj" fmla="val 6452"/>
            </a:avLst>
          </a:prstGeom>
          <a:solidFill>
            <a:srgbClr val="0F1E2E"/>
          </a:solidFill>
          <a:ln/>
          <a:effectLst>
            <a:outerShdw blurRad="114300" dist="38100" dir="5400000" algn="bl" rotWithShape="0">
              <a:srgbClr val="0F1E2E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32688" y="4114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0EA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예시 — 압축비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44165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10,000 줄</a:t>
            </a:r>
            <a:r>
              <a:rPr lang="en-US" sz="2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→   </a:t>
            </a:r>
            <a:r>
              <a:rPr lang="en-US" sz="2200" b="1" dirty="0">
                <a:solidFill>
                  <a:srgbClr val="0EA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템플릿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32688" y="4983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99% 중복 제거  →  토큰 대폭 절감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783080"/>
            <a:ext cx="5479999" cy="457200"/>
          </a:xfrm>
          <a:prstGeom prst="roundRect">
            <a:avLst>
              <a:gd name="adj" fmla="val 12000"/>
            </a:avLst>
          </a:prstGeom>
          <a:solidFill>
            <a:srgbClr val="F7FAFB"/>
          </a:solidFill>
          <a:ln w="1270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373368" y="1783080"/>
            <a:ext cx="50227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failed for user </a:t>
            </a:r>
            <a:r>
              <a:rPr lang="en-US" sz="1150" b="1" dirty="0">
                <a:solidFill>
                  <a:srgbClr val="E89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guest</a:t>
            </a:r>
            <a:r>
              <a:rPr lang="en-US" sz="11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 IP </a:t>
            </a:r>
            <a:r>
              <a:rPr lang="en-US" sz="1150" b="1" dirty="0">
                <a:solidFill>
                  <a:srgbClr val="E89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192.168.1.10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44768" y="2350008"/>
            <a:ext cx="5479999" cy="457200"/>
          </a:xfrm>
          <a:prstGeom prst="roundRect">
            <a:avLst>
              <a:gd name="adj" fmla="val 12000"/>
            </a:avLst>
          </a:prstGeom>
          <a:solidFill>
            <a:srgbClr val="F7FAFB"/>
          </a:solidFill>
          <a:ln w="1270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373368" y="2350008"/>
            <a:ext cx="50227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failed for user </a:t>
            </a:r>
            <a:r>
              <a:rPr lang="en-US" sz="1150" b="1" dirty="0">
                <a:solidFill>
                  <a:srgbClr val="E89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r>
              <a:rPr lang="en-US" sz="11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 IP </a:t>
            </a:r>
            <a:r>
              <a:rPr lang="en-US" sz="1150" b="1" dirty="0">
                <a:solidFill>
                  <a:srgbClr val="E89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10.0.0.5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44768" y="2916936"/>
            <a:ext cx="5479999" cy="457200"/>
          </a:xfrm>
          <a:prstGeom prst="roundRect">
            <a:avLst>
              <a:gd name="adj" fmla="val 12000"/>
            </a:avLst>
          </a:prstGeom>
          <a:solidFill>
            <a:srgbClr val="F7FAFB"/>
          </a:solidFill>
          <a:ln w="1270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373368" y="2916936"/>
            <a:ext cx="50227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failed for user </a:t>
            </a:r>
            <a:r>
              <a:rPr lang="en-US" sz="1150" b="1" dirty="0">
                <a:solidFill>
                  <a:srgbClr val="E89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kim</a:t>
            </a:r>
            <a:r>
              <a:rPr lang="en-US" sz="11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 IP </a:t>
            </a:r>
            <a:r>
              <a:rPr lang="en-US" sz="1150" b="1" dirty="0">
                <a:solidFill>
                  <a:srgbClr val="E89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172.16.0.9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44768" y="3538728"/>
            <a:ext cx="54799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9,997 줄 더</a:t>
            </a:r>
            <a:endParaRPr lang="en-US" sz="11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176" y="3886200"/>
            <a:ext cx="329184" cy="329184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144768" y="4389120"/>
            <a:ext cx="5479999" cy="868680"/>
          </a:xfrm>
          <a:prstGeom prst="roundRect">
            <a:avLst>
              <a:gd name="adj" fmla="val 8421"/>
            </a:avLst>
          </a:prstGeom>
          <a:solidFill>
            <a:srgbClr val="DCF1EE"/>
          </a:solidFill>
          <a:ln w="16510">
            <a:solidFill>
              <a:srgbClr val="0EA5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419088" y="4526280"/>
            <a:ext cx="49313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B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TEMPLATE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419088" y="4782312"/>
            <a:ext cx="49313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failed for user &lt;*&gt; from IP &lt;*&gt;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대용량 로그 분석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795967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0EA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접근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 → 매핑 → 질의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Drain3와 pandas만으로 대용량 로그를 LLM이 다룰 수 있는 형태로 바꾸고, SQL처럼 분석합니다.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320186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724101" y="2743200"/>
            <a:ext cx="1005840" cy="1005840"/>
          </a:xfrm>
          <a:prstGeom prst="ellipse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709" y="30358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3886200"/>
            <a:ext cx="33201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A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" y="4114800"/>
            <a:ext cx="33201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49808" y="4572000"/>
            <a:ext cx="2954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Drain3 템플릿화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95528" y="4892040"/>
            <a:ext cx="28629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로그를 템플릿(&lt;*&gt;)으로 압축해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입력 토큰을 절감</a:t>
            </a:r>
            <a:endParaRPr lang="en-US" sz="11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418" y="3781044"/>
            <a:ext cx="256032" cy="2560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35754" y="2286000"/>
            <a:ext cx="3320186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5592928" y="2743200"/>
            <a:ext cx="1005840" cy="1005840"/>
          </a:xfrm>
          <a:prstGeom prst="ellipse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5536" y="303580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35754" y="3886200"/>
            <a:ext cx="33201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A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02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435754" y="4114800"/>
            <a:ext cx="33201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매핑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4618634" y="4572000"/>
            <a:ext cx="2954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원본–템플릿 DataFrame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664354" y="4892040"/>
            <a:ext cx="28629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template_id로 압축 템플릿과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로그를 연결</a:t>
            </a:r>
            <a:endParaRPr lang="en-US" sz="11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2245" y="3781044"/>
            <a:ext cx="256032" cy="25603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304581" y="2286000"/>
            <a:ext cx="3320186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6"/>
          <p:cNvSpPr/>
          <p:nvPr/>
        </p:nvSpPr>
        <p:spPr>
          <a:xfrm>
            <a:off x="9461754" y="2743200"/>
            <a:ext cx="1005840" cy="1005840"/>
          </a:xfrm>
          <a:prstGeom prst="ellipse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4362" y="3035808"/>
            <a:ext cx="420624" cy="4206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04581" y="3886200"/>
            <a:ext cx="33201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A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03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8304581" y="4114800"/>
            <a:ext cx="33201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</a:t>
            </a:r>
            <a:endParaRPr lang="en-US" sz="2100" dirty="0"/>
          </a:p>
        </p:txBody>
      </p:sp>
      <p:sp>
        <p:nvSpPr>
          <p:cNvPr id="26" name="Text 19"/>
          <p:cNvSpPr/>
          <p:nvPr/>
        </p:nvSpPr>
        <p:spPr>
          <a:xfrm>
            <a:off x="8487461" y="4572000"/>
            <a:ext cx="2954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SQL식 분석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8533181" y="4892040"/>
            <a:ext cx="28629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WHERE·LIKE·BETWEEN·GROUP BY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로그를 조회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2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대용량 로그 분석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9795967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0EA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01 · COMPRESS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Drain3 템플릿화로 로그를 압축한다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Drain3 TemplateMiner가 메시지 패턴을 자동 학습해, 변하는 값을 &lt;*&gt;로 치환한 템플릿으로 클러스터링합니다.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F7FAFB"/>
          </a:solidFill>
          <a:ln w="1270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95528" y="2011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failed for user guest from IP 192.168.1.10</a:t>
            </a:r>
            <a:endParaRPr lang="en-US" sz="11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026664" y="2578608"/>
            <a:ext cx="237744" cy="2377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2880360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DCF1EE"/>
          </a:solidFill>
          <a:ln w="15240">
            <a:solidFill>
              <a:srgbClr val="0EA5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95528" y="2880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failed for user &lt;*&gt; from IP &lt;*&gt;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" y="34930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패턴의 로그를 하나의 클러스터(template_id)로 묶어 중복을 제거합니다.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40690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 강도 조절 — 주요 파라미터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389120"/>
          <a:ext cx="5394960" cy="18288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파라미터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기본값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7A7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sim_th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유사도 임계값 (낮을수록 더 압축)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7A7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depth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Drain 트리 깊이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7A7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max_children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노드당 최대 자식 수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7A7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parametrize_numeric_tokens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숫자 토큰을 &lt;*&gt;로 대체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6464808" y="2011680"/>
            <a:ext cx="5159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함수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64808" y="2377440"/>
            <a:ext cx="5159959" cy="786384"/>
          </a:xfrm>
          <a:prstGeom prst="roundRect">
            <a:avLst>
              <a:gd name="adj" fmla="val 8140"/>
            </a:avLst>
          </a:prstGeom>
          <a:solidFill>
            <a:srgbClr val="F7FAFB"/>
          </a:solidFill>
          <a:ln w="1270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464808" y="2377440"/>
            <a:ext cx="64008" cy="786384"/>
          </a:xfrm>
          <a:prstGeom prst="rect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6693408" y="2468880"/>
            <a:ext cx="47484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build_template_miner()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693408" y="2788920"/>
            <a:ext cx="47484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Drain3 인스턴스 생성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64808" y="3273552"/>
            <a:ext cx="5159959" cy="786384"/>
          </a:xfrm>
          <a:prstGeom prst="roundRect">
            <a:avLst>
              <a:gd name="adj" fmla="val 8140"/>
            </a:avLst>
          </a:prstGeom>
          <a:solidFill>
            <a:srgbClr val="F7FAFB"/>
          </a:solidFill>
          <a:ln w="1270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464808" y="3273552"/>
            <a:ext cx="64008" cy="786384"/>
          </a:xfrm>
          <a:prstGeom prst="rect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6693408" y="3364992"/>
            <a:ext cx="47484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extract_templates_from_entries()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693408" y="3685032"/>
            <a:ext cx="47484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목록 일괄 압축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464808" y="4169664"/>
            <a:ext cx="5159959" cy="786384"/>
          </a:xfrm>
          <a:prstGeom prst="roundRect">
            <a:avLst>
              <a:gd name="adj" fmla="val 8140"/>
            </a:avLst>
          </a:prstGeom>
          <a:solidFill>
            <a:srgbClr val="F7FAFB"/>
          </a:solidFill>
          <a:ln w="1270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6464808" y="4169664"/>
            <a:ext cx="64008" cy="786384"/>
          </a:xfrm>
          <a:prstGeom prst="rect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/>
          <p:nvPr/>
        </p:nvSpPr>
        <p:spPr>
          <a:xfrm>
            <a:off x="6693408" y="4261104"/>
            <a:ext cx="47484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get_all_clusters()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693408" y="4581144"/>
            <a:ext cx="47484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학습된 전체 템플릿 조회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464808" y="5065776"/>
            <a:ext cx="5159959" cy="786384"/>
          </a:xfrm>
          <a:prstGeom prst="roundRect">
            <a:avLst>
              <a:gd name="adj" fmla="val 8140"/>
            </a:avLst>
          </a:prstGeom>
          <a:solidFill>
            <a:srgbClr val="F7FAFB"/>
          </a:solidFill>
          <a:ln w="1270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6464808" y="5065776"/>
            <a:ext cx="64008" cy="786384"/>
          </a:xfrm>
          <a:prstGeom prst="rect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/>
          <p:nvPr/>
        </p:nvSpPr>
        <p:spPr>
          <a:xfrm>
            <a:off x="6693408" y="5157216"/>
            <a:ext cx="47484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build_cluster_summary_dataframe()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6693408" y="5477256"/>
            <a:ext cx="47484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템플릿별 로그 건수 요약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대용량 로그 분석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9795967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0EA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효과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사용량이 급감한다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로그 대신 템플릿 + 건수만 LLM에 전달하면, 분석 비용과 컨텍스트 부담이 크게 줄어듭니다.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3442106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66928" y="2331720"/>
            <a:ext cx="3442106" cy="82296"/>
          </a:xfrm>
          <a:prstGeom prst="rect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49808" y="2834640"/>
            <a:ext cx="30763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EA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200:1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49808" y="3931920"/>
            <a:ext cx="3076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4343400"/>
            <a:ext cx="28934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20만 줄 → 약 1천 템플릿 수준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74794" y="2331720"/>
            <a:ext cx="3442106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374794" y="2331720"/>
            <a:ext cx="3442106" cy="82296"/>
          </a:xfrm>
          <a:prstGeom prst="rect">
            <a:avLst/>
          </a:prstGeom>
          <a:solidFill>
            <a:srgbClr val="0B7A7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57674" y="2834640"/>
            <a:ext cx="30763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B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98%+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4557674" y="3931920"/>
            <a:ext cx="3076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절감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49114" y="4343400"/>
            <a:ext cx="28934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로그 제거로 입력 토큰 대폭 감소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82661" y="2331720"/>
            <a:ext cx="3442106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182661" y="2331720"/>
            <a:ext cx="3442106" cy="82296"/>
          </a:xfrm>
          <a:prstGeom prst="rect">
            <a:avLst/>
          </a:prstGeom>
          <a:solidFill>
            <a:srgbClr val="E892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365541" y="2834640"/>
            <a:ext cx="30763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892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8365541" y="3931920"/>
            <a:ext cx="3076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적재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56981" y="4343400"/>
            <a:ext cx="28934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호출로 전체 로그 윤곽 파악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5349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수치는 로그 중복도에 따른 개념적 예시이며, 실제 절감률은 데이터에 따라 달라집니다.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대용량 로그 분석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795967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0EA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02 · 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↔ 템플릿 매핑으로 추적성을 지킨다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압축은 정보 손실이 아닙니다. template_id가 압축 템플릿과 모든 원본 로그를 잇는 키 역할을 하여, 언제든 원본을 추적할 수 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52546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5254600" cy="457200"/>
          </a:xfrm>
          <a:prstGeom prst="rect">
            <a:avLst/>
          </a:prstGeom>
          <a:solidFill>
            <a:srgbClr val="0F1E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86968" y="2286000"/>
            <a:ext cx="461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로그 필드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" y="2944368"/>
            <a:ext cx="461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line_number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6968" y="3191256"/>
            <a:ext cx="461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라인 번호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86968" y="3493008"/>
            <a:ext cx="4614520" cy="0"/>
          </a:xfrm>
          <a:prstGeom prst="line">
            <a:avLst/>
          </a:prstGeom>
          <a:noFill/>
          <a:ln w="635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86968" y="3355848"/>
            <a:ext cx="461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86968" y="3602736"/>
            <a:ext cx="461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날짜/시간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6968" y="3904488"/>
            <a:ext cx="4614520" cy="0"/>
          </a:xfrm>
          <a:prstGeom prst="line">
            <a:avLst/>
          </a:prstGeom>
          <a:noFill/>
          <a:ln w="635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86968" y="3767328"/>
            <a:ext cx="461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86968" y="4014216"/>
            <a:ext cx="461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이름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6968" y="4315968"/>
            <a:ext cx="4614520" cy="0"/>
          </a:xfrm>
          <a:prstGeom prst="line">
            <a:avLst/>
          </a:prstGeom>
          <a:noFill/>
          <a:ln w="635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86968" y="4178808"/>
            <a:ext cx="461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86968" y="4425696"/>
            <a:ext cx="461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레벨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6968" y="4727448"/>
            <a:ext cx="4614520" cy="0"/>
          </a:xfrm>
          <a:prstGeom prst="line">
            <a:avLst/>
          </a:prstGeom>
          <a:noFill/>
          <a:ln w="635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86968" y="4590288"/>
            <a:ext cx="461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/ category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86968" y="4837176"/>
            <a:ext cx="461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· 카테고리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86968" y="5138928"/>
            <a:ext cx="4614520" cy="0"/>
          </a:xfrm>
          <a:prstGeom prst="line">
            <a:avLst/>
          </a:prstGeom>
          <a:noFill/>
          <a:ln w="635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86968" y="5001768"/>
            <a:ext cx="461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/ raw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86968" y="5248656"/>
            <a:ext cx="461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메시지 · 전체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6968" y="5550408"/>
            <a:ext cx="4614520" cy="0"/>
          </a:xfrm>
          <a:prstGeom prst="line">
            <a:avLst/>
          </a:prstGeom>
          <a:noFill/>
          <a:ln w="635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370168" y="2286000"/>
            <a:ext cx="52546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370168" y="2286000"/>
            <a:ext cx="5254600" cy="457200"/>
          </a:xfrm>
          <a:prstGeom prst="rect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690208" y="2286000"/>
            <a:ext cx="461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 매핑 필드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90208" y="2944368"/>
            <a:ext cx="461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template_id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690208" y="3191256"/>
            <a:ext cx="461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클러스터 ID · 매핑 키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690208" y="3493008"/>
            <a:ext cx="4614520" cy="0"/>
          </a:xfrm>
          <a:prstGeom prst="line">
            <a:avLst/>
          </a:prstGeom>
          <a:noFill/>
          <a:ln w="635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690208" y="3721608"/>
            <a:ext cx="461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690208" y="3968496"/>
            <a:ext cx="461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 템플릿 (&lt;*&gt;)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690208" y="4270248"/>
            <a:ext cx="4614520" cy="0"/>
          </a:xfrm>
          <a:prstGeom prst="line">
            <a:avLst/>
          </a:prstGeom>
          <a:noFill/>
          <a:ln w="635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690208" y="4498848"/>
            <a:ext cx="461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cluster_size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690208" y="4745736"/>
            <a:ext cx="461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패턴 로그 수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90208" y="5047488"/>
            <a:ext cx="4614520" cy="0"/>
          </a:xfrm>
          <a:prstGeom prst="line">
            <a:avLst/>
          </a:prstGeom>
          <a:noFill/>
          <a:ln w="635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690208" y="5029200"/>
            <a:ext cx="461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0B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template_id 가 매핑 키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대용량 로그 분석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795967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0EA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03 · QUERY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SQL처럼 로그를 질의한다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DataFrame 검색 함수는 익숙한 SQL 절(WHERE · LIKE · BETWEEN · GROUP BY)에 그대로 대응됩니다.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03120"/>
          <a:ext cx="11073384" cy="3200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6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분석 목적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DataFrame 함수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SQL 대응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1E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키워드 검색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7A7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search_by_keyword()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WHERE message LIKE '%...%'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1E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필드 필터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7A7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search_by_field()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WHERE level = 'ERROR'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1E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템플릿별 조회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7A7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search_by_template_id()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WHERE template_id = 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1E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 범위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7A7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search_by_datetime_range()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WHERE datetime BETWEEN a AND 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1E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복합 조건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7A7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search_combined()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WHERE ... AND ... AND ...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1E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패턴 집계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7A7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build_cluster_summary_*()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GROUP BY template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532120"/>
            <a:ext cx="11057839" cy="658368"/>
          </a:xfrm>
          <a:prstGeom prst="roundRect">
            <a:avLst>
              <a:gd name="adj" fmla="val 11111"/>
            </a:avLst>
          </a:prstGeom>
          <a:solidFill>
            <a:srgbClr val="DCF1EE"/>
          </a:solidFill>
          <a:ln w="12700">
            <a:solidFill>
              <a:srgbClr val="0EA5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41248" y="5532120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 </a:t>
            </a:r>
            <a:r>
              <a:rPr lang="en-US" sz="1050" dirty="0">
                <a:solidFill>
                  <a:srgbClr val="0F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search_combined(df, system="APIGateway", level="INFO", keyword="GET")</a:t>
            </a:r>
            <a:r>
              <a:rPr lang="en-US" sz="1050" b="1" dirty="0">
                <a:solidFill>
                  <a:srgbClr val="0EA59A"/>
                </a:solidFill>
              </a:rPr>
              <a:t>   ≡   </a:t>
            </a: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WHERE system='APIGateway' AND level='INFO' AND msg LIKE '%GET%'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대용량 로그 분석</a:t>
            </a:r>
            <a:endParaRPr lang="en-US" sz="900" dirty="0"/>
          </a:p>
        </p:txBody>
      </p:sp>
      <p:sp>
        <p:nvSpPr>
          <p:cNvPr id="5" name="Text 7"/>
          <p:cNvSpPr/>
          <p:nvPr/>
        </p:nvSpPr>
        <p:spPr>
          <a:xfrm>
            <a:off x="9795967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0EA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정리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워크플로우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로그를 압축·매핑·질의하고, 압축된 템플릿을 LLM에 전달하기까지의 흐름입니다.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1904329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49808" y="2304288"/>
            <a:ext cx="438912" cy="438912"/>
          </a:xfrm>
          <a:prstGeom prst="ellipse">
            <a:avLst/>
          </a:prstGeom>
          <a:solidFill>
            <a:srgbClr val="DCF1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49808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03120"/>
            <a:ext cx="108136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</a:t>
            </a:r>
            <a:endParaRPr lang="en-US" sz="11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409" y="2404872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855305" y="2103120"/>
            <a:ext cx="1904329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3038185" y="2304288"/>
            <a:ext cx="438912" cy="438912"/>
          </a:xfrm>
          <a:prstGeom prst="ellipse">
            <a:avLst/>
          </a:prstGeom>
          <a:solidFill>
            <a:srgbClr val="DCF1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3038185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568537" y="2103120"/>
            <a:ext cx="108136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템플릿화 · 압축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787" y="2404872"/>
            <a:ext cx="237744" cy="23774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143683" y="2103120"/>
            <a:ext cx="1904329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5326563" y="2304288"/>
            <a:ext cx="438912" cy="438912"/>
          </a:xfrm>
          <a:prstGeom prst="ellipse">
            <a:avLst/>
          </a:prstGeom>
          <a:solidFill>
            <a:srgbClr val="DCF1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5326563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856915" y="2103120"/>
            <a:ext cx="108136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원본–템플릿 매핑</a:t>
            </a:r>
            <a:endParaRPr lang="en-US" sz="11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164" y="2404872"/>
            <a:ext cx="237744" cy="237744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432060" y="2103120"/>
            <a:ext cx="1904329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7614940" y="2304288"/>
            <a:ext cx="438912" cy="438912"/>
          </a:xfrm>
          <a:prstGeom prst="ellipse">
            <a:avLst/>
          </a:prstGeom>
          <a:solidFill>
            <a:srgbClr val="DCF1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/>
          <p:nvPr/>
        </p:nvSpPr>
        <p:spPr>
          <a:xfrm>
            <a:off x="7614940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145292" y="2103120"/>
            <a:ext cx="108136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SQL식 질의</a:t>
            </a:r>
            <a:endParaRPr lang="en-US" sz="11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9542" y="2404872"/>
            <a:ext cx="237744" cy="23774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720438" y="2103120"/>
            <a:ext cx="1904329" cy="841248"/>
          </a:xfrm>
          <a:prstGeom prst="roundRect">
            <a:avLst>
              <a:gd name="adj" fmla="val 10870"/>
            </a:avLst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9903318" y="2304288"/>
            <a:ext cx="438912" cy="438912"/>
          </a:xfrm>
          <a:prstGeom prst="ellipse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/>
          <p:nvPr/>
        </p:nvSpPr>
        <p:spPr>
          <a:xfrm>
            <a:off x="9903318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10433670" y="2103120"/>
            <a:ext cx="108136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분석 전달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66928" y="3383279"/>
            <a:ext cx="11057839" cy="2871215"/>
          </a:xfrm>
          <a:prstGeom prst="roundRect">
            <a:avLst>
              <a:gd name="adj" fmla="val 4082"/>
            </a:avLst>
          </a:prstGeom>
          <a:solidFill>
            <a:srgbClr val="0F1E2E"/>
          </a:solidFill>
          <a:ln/>
          <a:effectLst>
            <a:outerShdw blurRad="114300" dist="38100" dir="5400000" algn="bl" rotWithShape="0">
              <a:srgbClr val="0F1E2E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4"/>
          <p:cNvSpPr/>
          <p:nvPr/>
        </p:nvSpPr>
        <p:spPr>
          <a:xfrm>
            <a:off x="932688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A5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pipeline.py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32688" y="3886200"/>
            <a:ext cx="1032631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FB7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파싱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entries = parse_log_text(log_text)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FB7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템플릿화 (압축)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miner, results = extract_templates_from_entries(entries)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FB7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원본-템플릿 매핑 DataFrame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merged_df = build_merged_dataframe(log_df, tpl_df)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FB7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SQL식 질의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errors = search_combined(merged_df, level="ERROR")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FB7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압축 템플릿을 LLM에 전달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 = build_cluster_summary_dataframe(merged_df)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7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대용량 로그 분석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9795967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E892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JUDGE AGENT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가능한 에이전트, 무엇이 필요한가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답을 한 번 생성하는 것을 넘어, 왜 그 답이 나왔는지 재현·검증·개선할 수 있어야 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F7FAFB"/>
          </a:solidFill>
          <a:ln w="1270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95528" y="2340864"/>
            <a:ext cx="457200" cy="457200"/>
          </a:xfrm>
          <a:prstGeom prst="ellipse">
            <a:avLst/>
          </a:prstGeom>
          <a:solidFill>
            <a:srgbClr val="E892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95528" y="2340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81328" y="219456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Agent가 왜 시간이 지나며 목표에서 벗어나는가?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881567" y="2386584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FBEB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881567" y="238658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62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Goal Drift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063240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F7FAFB"/>
          </a:solidFill>
          <a:ln w="1270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95528" y="3209544"/>
            <a:ext cx="457200" cy="457200"/>
          </a:xfrm>
          <a:prstGeom prst="ellipse">
            <a:avLst/>
          </a:prstGeom>
          <a:solidFill>
            <a:srgbClr val="E892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9552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81328" y="306324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더 긴 컨텍스트 창이 항상 더 나은 답을 만들지 않는가?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81567" y="3255264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FBEB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881567" y="32552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62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Context Failure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931920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F7FAFB"/>
          </a:solidFill>
          <a:ln w="1270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95528" y="4078224"/>
            <a:ext cx="457200" cy="457200"/>
          </a:xfrm>
          <a:prstGeom prst="ellipse">
            <a:avLst/>
          </a:prstGeom>
          <a:solidFill>
            <a:srgbClr val="E892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95528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81328" y="393192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에이전트에서 컨텍스트는 어디에 존재하는가?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881567" y="4123944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FBEB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881567" y="412394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62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Architecture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4800600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F7FAFB"/>
          </a:solidFill>
          <a:ln w="1270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95528" y="4946904"/>
            <a:ext cx="457200" cy="457200"/>
          </a:xfrm>
          <a:prstGeom prst="ellipse">
            <a:avLst/>
          </a:prstGeom>
          <a:solidFill>
            <a:srgbClr val="E892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95528" y="4946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81328" y="480060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 Agent는 어떤 데이터를 보고 drift를 판단해야 하는가?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881567" y="4992624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FBEB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881567" y="49926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62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5669280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F7FAFB"/>
          </a:solidFill>
          <a:ln w="1270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795528" y="5815584"/>
            <a:ext cx="457200" cy="457200"/>
          </a:xfrm>
          <a:prstGeom prst="ellipse">
            <a:avLst/>
          </a:prstGeom>
          <a:solidFill>
            <a:srgbClr val="E892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95528" y="5815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81328" y="566928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가능한 에이전트를 만들려면 어떤 telemetry가 필요한가?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881567" y="5861304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FBEB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881567" y="586130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62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Judge Agent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795967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E892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핵심 개념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Drift — 에이전트가 목표에서 벗어나는 현상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558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41248" y="2121408"/>
            <a:ext cx="566928" cy="566928"/>
          </a:xfrm>
          <a:prstGeom prst="ellipse">
            <a:avLst/>
          </a:prstGeom>
          <a:solidFill>
            <a:srgbClr val="FBEBC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19" y="2274479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788920"/>
            <a:ext cx="201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Goal Drift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41248" y="3127248"/>
            <a:ext cx="201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원래 목표에서 이탈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99968" y="1828800"/>
            <a:ext cx="2558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674288" y="2121408"/>
            <a:ext cx="566928" cy="566928"/>
          </a:xfrm>
          <a:prstGeom prst="ellipse">
            <a:avLst/>
          </a:prstGeom>
          <a:solidFill>
            <a:srgbClr val="FBEBC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358" y="2274479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74288" y="2788920"/>
            <a:ext cx="201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Drift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74288" y="3127248"/>
            <a:ext cx="201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도구 선택·반복 호출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33008" y="1828800"/>
            <a:ext cx="2558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507328" y="2121408"/>
            <a:ext cx="566928" cy="566928"/>
          </a:xfrm>
          <a:prstGeom prst="ellipse">
            <a:avLst/>
          </a:prstGeom>
          <a:solidFill>
            <a:srgbClr val="FBEBC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398" y="2274479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7328" y="2788920"/>
            <a:ext cx="201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 Drift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507328" y="3127248"/>
            <a:ext cx="201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없는 / 오래된 기억 사용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66047" y="1828800"/>
            <a:ext cx="2558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9340367" y="2121408"/>
            <a:ext cx="566928" cy="566928"/>
          </a:xfrm>
          <a:prstGeom prst="ellipse">
            <a:avLst/>
          </a:prstGeom>
          <a:solidFill>
            <a:srgbClr val="FBEBC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3438" y="2274479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40367" y="2788920"/>
            <a:ext cx="201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Drift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40367" y="3127248"/>
            <a:ext cx="201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오해석 · 과도한 일반화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66928" y="4069080"/>
            <a:ext cx="2558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841248" y="4361688"/>
            <a:ext cx="566928" cy="566928"/>
          </a:xfrm>
          <a:prstGeom prst="ellipse">
            <a:avLst/>
          </a:prstGeom>
          <a:solidFill>
            <a:srgbClr val="FBEBC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19" y="4514759"/>
            <a:ext cx="260787" cy="2607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41248" y="5029200"/>
            <a:ext cx="201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 Drift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841248" y="5367528"/>
            <a:ext cx="201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없이 수치·원인 주장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3399968" y="4069080"/>
            <a:ext cx="2558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3"/>
          <p:cNvSpPr/>
          <p:nvPr/>
        </p:nvSpPr>
        <p:spPr>
          <a:xfrm>
            <a:off x="3674288" y="4361688"/>
            <a:ext cx="566928" cy="566928"/>
          </a:xfrm>
          <a:prstGeom prst="ellipse">
            <a:avLst/>
          </a:prstGeom>
          <a:solidFill>
            <a:srgbClr val="FBEBC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358" y="4514759"/>
            <a:ext cx="260787" cy="2607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74288" y="5029200"/>
            <a:ext cx="201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Handoff Drift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3674288" y="5367528"/>
            <a:ext cx="201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간 전달 시 의미 변형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6233008" y="4069080"/>
            <a:ext cx="2558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7"/>
          <p:cNvSpPr/>
          <p:nvPr/>
        </p:nvSpPr>
        <p:spPr>
          <a:xfrm>
            <a:off x="6507328" y="4361688"/>
            <a:ext cx="566928" cy="566928"/>
          </a:xfrm>
          <a:prstGeom prst="ellipse">
            <a:avLst/>
          </a:prstGeom>
          <a:solidFill>
            <a:srgbClr val="FBEBC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398" y="4514759"/>
            <a:ext cx="260787" cy="26078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507328" y="5029200"/>
            <a:ext cx="201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Bloat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6507328" y="5367528"/>
            <a:ext cx="201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불필요한 컨텍스트 과다 누적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9066047" y="4069080"/>
            <a:ext cx="2558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1"/>
          <p:cNvSpPr/>
          <p:nvPr/>
        </p:nvSpPr>
        <p:spPr>
          <a:xfrm>
            <a:off x="9340367" y="4361688"/>
            <a:ext cx="566928" cy="566928"/>
          </a:xfrm>
          <a:prstGeom prst="ellipse">
            <a:avLst/>
          </a:prstGeom>
          <a:solidFill>
            <a:srgbClr val="FBEBC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3438" y="4514759"/>
            <a:ext cx="260787" cy="260787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340367" y="5029200"/>
            <a:ext cx="201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Poisoning</a:t>
            </a:r>
            <a:endParaRPr lang="en-US" sz="1450" dirty="0"/>
          </a:p>
        </p:txBody>
      </p:sp>
      <p:sp>
        <p:nvSpPr>
          <p:cNvPr id="43" name="Text 33"/>
          <p:cNvSpPr/>
          <p:nvPr/>
        </p:nvSpPr>
        <p:spPr>
          <a:xfrm>
            <a:off x="9340367" y="5367528"/>
            <a:ext cx="201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정보가 State 오염</a:t>
            </a:r>
            <a:endParaRPr lang="en-US" sz="1150" dirty="0"/>
          </a:p>
        </p:txBody>
      </p:sp>
      <p:sp>
        <p:nvSpPr>
          <p:cNvPr id="44" name="Shape 34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Judge Agent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9795967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E892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CONTEXT ENGINEERING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것을 정확히 넣는 4대 전략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Engineering이 </a:t>
            </a:r>
            <a:r>
              <a:rPr lang="en-US" sz="13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“어떻게 말할까”</a:t>
            </a:r>
            <a:r>
              <a:rPr lang="en-US" sz="13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라면, Context Engineering은 </a:t>
            </a:r>
            <a:r>
              <a:rPr lang="en-US" sz="1350" b="1" dirty="0">
                <a:solidFill>
                  <a:srgbClr val="0B7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“무엇을 보여줄까”</a:t>
            </a:r>
            <a:r>
              <a:rPr lang="en-US" sz="13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의 문제입니다.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40279"/>
            <a:ext cx="2524430" cy="3445621"/>
          </a:xfrm>
          <a:prstGeom prst="roundRect">
            <a:avLst>
              <a:gd name="adj" fmla="val 3622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2524430" cy="82296"/>
          </a:xfrm>
          <a:prstGeom prst="rect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417663" y="2606040"/>
            <a:ext cx="822960" cy="822960"/>
          </a:xfrm>
          <a:prstGeom prst="ellipse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551" y="285292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3520440"/>
            <a:ext cx="25244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04088" y="3904488"/>
            <a:ext cx="2250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컨텍스트를 외부에 기록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95528" y="4480560"/>
            <a:ext cx="2067230" cy="292608"/>
          </a:xfrm>
          <a:prstGeom prst="roundRect">
            <a:avLst>
              <a:gd name="adj" fmla="val 50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95528" y="4480560"/>
            <a:ext cx="206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scratchpad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95528" y="4846320"/>
            <a:ext cx="2067230" cy="292608"/>
          </a:xfrm>
          <a:prstGeom prst="roundRect">
            <a:avLst>
              <a:gd name="adj" fmla="val 50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95528" y="4846320"/>
            <a:ext cx="206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95528" y="5212080"/>
            <a:ext cx="2067230" cy="292608"/>
          </a:xfrm>
          <a:prstGeom prst="roundRect">
            <a:avLst>
              <a:gd name="adj" fmla="val 50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795528" y="5212080"/>
            <a:ext cx="206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checkpoint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411398" y="2240279"/>
            <a:ext cx="2524430" cy="3445621"/>
          </a:xfrm>
          <a:prstGeom prst="roundRect">
            <a:avLst>
              <a:gd name="adj" fmla="val 3622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3411398" y="2240280"/>
            <a:ext cx="2524430" cy="82296"/>
          </a:xfrm>
          <a:prstGeom prst="rect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262133" y="2606040"/>
            <a:ext cx="822960" cy="822960"/>
          </a:xfrm>
          <a:prstGeom prst="ellipse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021" y="2852928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11398" y="3520440"/>
            <a:ext cx="25244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3548558" y="3904488"/>
            <a:ext cx="2250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컨텍스트만 선택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3639998" y="4480560"/>
            <a:ext cx="2067230" cy="292608"/>
          </a:xfrm>
          <a:prstGeom prst="roundRect">
            <a:avLst>
              <a:gd name="adj" fmla="val 50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/>
          <p:nvPr/>
        </p:nvSpPr>
        <p:spPr>
          <a:xfrm>
            <a:off x="3639998" y="4480560"/>
            <a:ext cx="206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639998" y="4846320"/>
            <a:ext cx="2067230" cy="292608"/>
          </a:xfrm>
          <a:prstGeom prst="roundRect">
            <a:avLst>
              <a:gd name="adj" fmla="val 50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/>
          <p:nvPr/>
        </p:nvSpPr>
        <p:spPr>
          <a:xfrm>
            <a:off x="3639998" y="4846320"/>
            <a:ext cx="206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639998" y="5212080"/>
            <a:ext cx="2067230" cy="292608"/>
          </a:xfrm>
          <a:prstGeom prst="roundRect">
            <a:avLst>
              <a:gd name="adj" fmla="val 50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/>
          <p:nvPr/>
        </p:nvSpPr>
        <p:spPr>
          <a:xfrm>
            <a:off x="3639998" y="5212080"/>
            <a:ext cx="206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selection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255868" y="2240279"/>
            <a:ext cx="2524430" cy="3445621"/>
          </a:xfrm>
          <a:prstGeom prst="roundRect">
            <a:avLst>
              <a:gd name="adj" fmla="val 3622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6"/>
          <p:cNvSpPr/>
          <p:nvPr/>
        </p:nvSpPr>
        <p:spPr>
          <a:xfrm>
            <a:off x="6255868" y="2240280"/>
            <a:ext cx="2524430" cy="82296"/>
          </a:xfrm>
          <a:prstGeom prst="rect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7"/>
          <p:cNvSpPr/>
          <p:nvPr/>
        </p:nvSpPr>
        <p:spPr>
          <a:xfrm>
            <a:off x="7106603" y="2606040"/>
            <a:ext cx="822960" cy="822960"/>
          </a:xfrm>
          <a:prstGeom prst="ellipse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3491" y="2852928"/>
            <a:ext cx="329184" cy="32918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255868" y="3520440"/>
            <a:ext cx="25244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Compress</a:t>
            </a:r>
            <a:endParaRPr lang="en-US" sz="1800" dirty="0"/>
          </a:p>
        </p:txBody>
      </p:sp>
      <p:sp>
        <p:nvSpPr>
          <p:cNvPr id="34" name="Text 29"/>
          <p:cNvSpPr/>
          <p:nvPr/>
        </p:nvSpPr>
        <p:spPr>
          <a:xfrm>
            <a:off x="6393028" y="3904488"/>
            <a:ext cx="2250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핵심만 남기고 압축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6484468" y="4480560"/>
            <a:ext cx="2067230" cy="292608"/>
          </a:xfrm>
          <a:prstGeom prst="roundRect">
            <a:avLst>
              <a:gd name="adj" fmla="val 50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1"/>
          <p:cNvSpPr/>
          <p:nvPr/>
        </p:nvSpPr>
        <p:spPr>
          <a:xfrm>
            <a:off x="6484468" y="4480560"/>
            <a:ext cx="206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6484468" y="4846320"/>
            <a:ext cx="2067230" cy="292608"/>
          </a:xfrm>
          <a:prstGeom prst="roundRect">
            <a:avLst>
              <a:gd name="adj" fmla="val 50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3"/>
          <p:cNvSpPr/>
          <p:nvPr/>
        </p:nvSpPr>
        <p:spPr>
          <a:xfrm>
            <a:off x="6484468" y="4846320"/>
            <a:ext cx="206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compaction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9100337" y="2240279"/>
            <a:ext cx="2524430" cy="3445621"/>
          </a:xfrm>
          <a:prstGeom prst="roundRect">
            <a:avLst>
              <a:gd name="adj" fmla="val 3622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5"/>
          <p:cNvSpPr/>
          <p:nvPr/>
        </p:nvSpPr>
        <p:spPr>
          <a:xfrm>
            <a:off x="9100337" y="2240280"/>
            <a:ext cx="2524430" cy="82296"/>
          </a:xfrm>
          <a:prstGeom prst="rect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6"/>
          <p:cNvSpPr/>
          <p:nvPr/>
        </p:nvSpPr>
        <p:spPr>
          <a:xfrm>
            <a:off x="9951072" y="2606040"/>
            <a:ext cx="822960" cy="822960"/>
          </a:xfrm>
          <a:prstGeom prst="ellipse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7960" y="2852928"/>
            <a:ext cx="329184" cy="329184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9100337" y="3520440"/>
            <a:ext cx="25244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Isolate</a:t>
            </a:r>
            <a:endParaRPr lang="en-US" sz="1800" dirty="0"/>
          </a:p>
        </p:txBody>
      </p:sp>
      <p:sp>
        <p:nvSpPr>
          <p:cNvPr id="44" name="Text 38"/>
          <p:cNvSpPr/>
          <p:nvPr/>
        </p:nvSpPr>
        <p:spPr>
          <a:xfrm>
            <a:off x="9237497" y="3904488"/>
            <a:ext cx="2250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컨텍스트를 역할별 격리</a:t>
            </a:r>
            <a:endParaRPr lang="en-US" sz="1150" dirty="0"/>
          </a:p>
        </p:txBody>
      </p:sp>
      <p:sp>
        <p:nvSpPr>
          <p:cNvPr id="45" name="Shape 39"/>
          <p:cNvSpPr/>
          <p:nvPr/>
        </p:nvSpPr>
        <p:spPr>
          <a:xfrm>
            <a:off x="9328937" y="4480560"/>
            <a:ext cx="2067230" cy="292608"/>
          </a:xfrm>
          <a:prstGeom prst="roundRect">
            <a:avLst>
              <a:gd name="adj" fmla="val 50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0"/>
          <p:cNvSpPr/>
          <p:nvPr/>
        </p:nvSpPr>
        <p:spPr>
          <a:xfrm>
            <a:off x="9328937" y="4480560"/>
            <a:ext cx="206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subgraph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9328937" y="4846320"/>
            <a:ext cx="2067230" cy="292608"/>
          </a:xfrm>
          <a:prstGeom prst="roundRect">
            <a:avLst>
              <a:gd name="adj" fmla="val 50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2"/>
          <p:cNvSpPr/>
          <p:nvPr/>
        </p:nvSpPr>
        <p:spPr>
          <a:xfrm>
            <a:off x="9328937" y="4846320"/>
            <a:ext cx="206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9328937" y="5212080"/>
            <a:ext cx="2067230" cy="292608"/>
          </a:xfrm>
          <a:prstGeom prst="roundRect">
            <a:avLst>
              <a:gd name="adj" fmla="val 50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4"/>
          <p:cNvSpPr/>
          <p:nvPr/>
        </p:nvSpPr>
        <p:spPr>
          <a:xfrm>
            <a:off x="9328937" y="5212080"/>
            <a:ext cx="206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6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Judge Agent</a:t>
            </a:r>
            <a:endParaRPr lang="en-US" sz="900" dirty="0"/>
          </a:p>
        </p:txBody>
      </p:sp>
      <p:sp>
        <p:nvSpPr>
          <p:cNvPr id="53" name="Text 47"/>
          <p:cNvSpPr/>
          <p:nvPr/>
        </p:nvSpPr>
        <p:spPr>
          <a:xfrm>
            <a:off x="9795967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E892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LANGGRAPH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컨텍스트를 State · Node · Edge로 통제한다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LangGraph는 컨텍스트가 어디에 저장되고 어떤 흐름으로 전달되는지를 명시적으로 다룰 수 있게 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5852160" cy="676656"/>
          </a:xfrm>
          <a:prstGeom prst="roundRect">
            <a:avLst>
              <a:gd name="adj" fmla="val 9459"/>
            </a:avLst>
          </a:prstGeom>
          <a:solidFill>
            <a:srgbClr val="F7FAFB"/>
          </a:solidFill>
          <a:ln w="1270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64008" cy="676656"/>
          </a:xfrm>
          <a:prstGeom prst="rect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41248" y="2148840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578608" y="2148840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애플리케이션 snapshot · 컨텍스트 저장소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935224"/>
            <a:ext cx="5852160" cy="676656"/>
          </a:xfrm>
          <a:prstGeom prst="roundRect">
            <a:avLst>
              <a:gd name="adj" fmla="val 9459"/>
            </a:avLst>
          </a:prstGeom>
          <a:solidFill>
            <a:srgbClr val="F7FAFB"/>
          </a:solidFill>
          <a:ln w="1270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66928" y="2935224"/>
            <a:ext cx="64008" cy="676656"/>
          </a:xfrm>
          <a:prstGeom prst="rect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41248" y="2935224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578608" y="2935224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state를 읽고 작업 수행 후 update 반환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721608"/>
            <a:ext cx="5852160" cy="676656"/>
          </a:xfrm>
          <a:prstGeom prst="roundRect">
            <a:avLst>
              <a:gd name="adj" fmla="val 9459"/>
            </a:avLst>
          </a:prstGeom>
          <a:solidFill>
            <a:srgbClr val="F7FAFB"/>
          </a:solidFill>
          <a:ln w="1270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66928" y="3721608"/>
            <a:ext cx="64008" cy="676656"/>
          </a:xfrm>
          <a:prstGeom prst="rect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41248" y="3721608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578608" y="3721608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node 결정 · Context Flow Control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507992"/>
            <a:ext cx="5852160" cy="676656"/>
          </a:xfrm>
          <a:prstGeom prst="roundRect">
            <a:avLst>
              <a:gd name="adj" fmla="val 9459"/>
            </a:avLst>
          </a:prstGeom>
          <a:solidFill>
            <a:srgbClr val="F7FAFB"/>
          </a:solidFill>
          <a:ln w="1270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66928" y="4507992"/>
            <a:ext cx="64008" cy="676656"/>
          </a:xfrm>
          <a:prstGeom prst="rect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41248" y="4507992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Checkpointer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578608" y="4507992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snapshot 저장 · drift 추적 가능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5294376"/>
            <a:ext cx="5852160" cy="676656"/>
          </a:xfrm>
          <a:prstGeom prst="roundRect">
            <a:avLst>
              <a:gd name="adj" fmla="val 9459"/>
            </a:avLst>
          </a:prstGeom>
          <a:solidFill>
            <a:srgbClr val="F7FAFB"/>
          </a:solidFill>
          <a:ln w="1270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66928" y="5294376"/>
            <a:ext cx="64008" cy="676656"/>
          </a:xfrm>
          <a:prstGeom prst="rect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41248" y="5294376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578608" y="5294376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long-term memory 저장 · thread 넘어 유지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76288" y="2148840"/>
            <a:ext cx="4748479" cy="3822192"/>
          </a:xfrm>
          <a:prstGeom prst="roundRect">
            <a:avLst>
              <a:gd name="adj" fmla="val 2392"/>
            </a:avLst>
          </a:prstGeom>
          <a:solidFill>
            <a:srgbClr val="0F1E2E"/>
          </a:solidFill>
          <a:ln/>
          <a:effectLst>
            <a:outerShdw blurRad="114300" dist="38100" dir="5400000" algn="bl" rotWithShape="0">
              <a:srgbClr val="0F1E2E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196328" y="2377440"/>
            <a:ext cx="41083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Engineering 장점</a:t>
            </a:r>
            <a:endParaRPr lang="en-US" sz="13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2916936"/>
            <a:ext cx="237744" cy="23774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534656" y="2880360"/>
            <a:ext cx="3834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컨텍스트를 state channel로 분리</a:t>
            </a:r>
            <a:endParaRPr lang="en-US" sz="120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3483864"/>
            <a:ext cx="237744" cy="23774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534656" y="3447288"/>
            <a:ext cx="3834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node별로 필요한 컨텍스트만 전달</a:t>
            </a:r>
            <a:endParaRPr lang="en-US" sz="120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4050792"/>
            <a:ext cx="237744" cy="23774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534656" y="4014216"/>
            <a:ext cx="3834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checkpoint로 오염 지점 추적</a:t>
            </a:r>
            <a:endParaRPr lang="en-US" sz="12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4617720"/>
            <a:ext cx="237744" cy="23774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534656" y="4581144"/>
            <a:ext cx="3834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subgraph로 context isolation</a:t>
            </a:r>
            <a:endParaRPr lang="en-US" sz="12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5184648"/>
            <a:ext cx="237744" cy="23774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534656" y="5148072"/>
            <a:ext cx="3834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validation node로 final gate 구성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1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Judge Agent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9795967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E892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DRIFT TELEMETRY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기록되는가 — 이벤트 체계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실행의 모든 단계를 구조화된 이벤트로 남겨, Judge Agent가 검증할 수 있는 증거를 만듭니다.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2572436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68096" y="2167128"/>
            <a:ext cx="21701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시작/종료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8096" y="2496312"/>
            <a:ext cx="21701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8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run_start</a:t>
            </a:r>
            <a:endParaRPr lang="en-US" sz="9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8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run_end</a:t>
            </a:r>
            <a:endParaRPr lang="en-US" sz="9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8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final_output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3395396" y="2057400"/>
            <a:ext cx="2572436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596564" y="2167128"/>
            <a:ext cx="21701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스냅샷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96564" y="2496312"/>
            <a:ext cx="21701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8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instruction_snapshot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223864" y="2057400"/>
            <a:ext cx="2572436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25032" y="2167128"/>
            <a:ext cx="21701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흐름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25032" y="2496312"/>
            <a:ext cx="21701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8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node_start</a:t>
            </a:r>
            <a:endParaRPr lang="en-US" sz="9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8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node_end</a:t>
            </a:r>
            <a:endParaRPr lang="en-US" sz="9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8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edge_selected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9052331" y="2057400"/>
            <a:ext cx="2572436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253499" y="2167128"/>
            <a:ext cx="21701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루프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253499" y="2496312"/>
            <a:ext cx="21701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8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react_step</a:t>
            </a:r>
            <a:endParaRPr lang="en-US" sz="9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8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66928" y="3593592"/>
            <a:ext cx="2572436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68096" y="3703320"/>
            <a:ext cx="21701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68096" y="4032504"/>
            <a:ext cx="21701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8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tool_start</a:t>
            </a:r>
            <a:endParaRPr lang="en-US" sz="9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8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tool_end</a:t>
            </a:r>
            <a:endParaRPr lang="en-US" sz="9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8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tool_error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3395396" y="3593592"/>
            <a:ext cx="2572436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596564" y="3703320"/>
            <a:ext cx="21701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호출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596564" y="4032504"/>
            <a:ext cx="21701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8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llm_start</a:t>
            </a:r>
            <a:endParaRPr lang="en-US" sz="9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8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llm_end</a:t>
            </a:r>
            <a:endParaRPr lang="en-US" sz="9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8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llm_error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6223864" y="3593592"/>
            <a:ext cx="2572436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25032" y="3703320"/>
            <a:ext cx="21701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/ MCP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25032" y="4032504"/>
            <a:ext cx="21701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8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retrieval_result</a:t>
            </a:r>
            <a:endParaRPr lang="en-US" sz="9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8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mcp_request</a:t>
            </a:r>
            <a:endParaRPr lang="en-US" sz="9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8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mcp_response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9052331" y="3593592"/>
            <a:ext cx="2572436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253499" y="3703320"/>
            <a:ext cx="21701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253499" y="4032504"/>
            <a:ext cx="21701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8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validation_result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566928" y="5650992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0F1E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86968" y="5650992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구현  </a:t>
            </a:r>
            <a:r>
              <a:rPr lang="en-US" sz="1050" dirty="0">
                <a:solidFill>
                  <a:srgbClr val="E7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run_start/end · instruction_snapshot · llm_start/end · tool_start/end · final_output · validation_result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795967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20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Judge Agent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E892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매핑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Telemetry가 어떤 Drift를 잡는가</a:t>
            </a:r>
            <a:endParaRPr lang="en-US" sz="3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11073384" cy="45262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9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Drift 유형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필요한 이벤트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탐지 포인트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A62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Goal drift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7A7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run_start · final_output · validation_result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vs 결과 비교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A62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Prompt drift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7A7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instruction_snapshot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instruction 변경 이력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A62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 drift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7A7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react_step · tool_start/end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잘못된 도구 선택·반복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A62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Evidence drift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7A7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tool_end · final_output · validation_result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없는 수치 주장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A62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drift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7A7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retrieval_result · final_output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오해석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A62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Handoff drift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7A7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node_start/end · edge_selected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간 의미 변형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A62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Context bloat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7A7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llm_start messages · token usage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과다 토큰 사용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A62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Context poisoning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7A7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checkpoints · node state diff · errors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오염 state 추적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Judge Agent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795967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E892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JUDGE AGENT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 Agent 평가 루프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 → Judge → Improve — 실행을 관측하고, drift를 판정하고, 컨텍스트 정책으로 개선을 되먹임합니다.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1918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97224" y="2121408"/>
            <a:ext cx="658368" cy="658368"/>
          </a:xfrm>
          <a:prstGeom prst="ellipse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392" y="232257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2648" y="2816352"/>
            <a:ext cx="182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Run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12648" y="3054096"/>
            <a:ext cx="182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실행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9896" y="2487168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51648" y="1920240"/>
            <a:ext cx="1918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3481944" y="2121408"/>
            <a:ext cx="658368" cy="658368"/>
          </a:xfrm>
          <a:prstGeom prst="ellipse">
            <a:avLst/>
          </a:prstGeom>
          <a:solidFill>
            <a:srgbClr val="0B7A7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112" y="232257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897368" y="2816352"/>
            <a:ext cx="182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TraceLogger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2897368" y="3054096"/>
            <a:ext cx="182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JSONL 이벤트 기록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4616" y="2487168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136368" y="1920240"/>
            <a:ext cx="1918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5766664" y="2121408"/>
            <a:ext cx="658368" cy="658368"/>
          </a:xfrm>
          <a:prstGeom prst="ellipse">
            <a:avLst/>
          </a:prstGeom>
          <a:solidFill>
            <a:srgbClr val="E8920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7832" y="2322576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82088" y="2816352"/>
            <a:ext cx="182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 Agent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5182088" y="3054096"/>
            <a:ext cx="182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Drift 분류·검증</a:t>
            </a:r>
            <a:endParaRPr lang="en-US" sz="9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336" y="2487168"/>
            <a:ext cx="237744" cy="2377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421088" y="1920240"/>
            <a:ext cx="1918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6"/>
          <p:cNvSpPr/>
          <p:nvPr/>
        </p:nvSpPr>
        <p:spPr>
          <a:xfrm>
            <a:off x="8051383" y="2121408"/>
            <a:ext cx="658368" cy="658368"/>
          </a:xfrm>
          <a:prstGeom prst="ellipse">
            <a:avLst/>
          </a:prstGeom>
          <a:solidFill>
            <a:srgbClr val="0B7A7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2551" y="2322576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466808" y="2816352"/>
            <a:ext cx="182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Feedback</a:t>
            </a:r>
            <a:endParaRPr lang="en-US" sz="1250" dirty="0"/>
          </a:p>
        </p:txBody>
      </p:sp>
      <p:sp>
        <p:nvSpPr>
          <p:cNvPr id="27" name="Text 18"/>
          <p:cNvSpPr/>
          <p:nvPr/>
        </p:nvSpPr>
        <p:spPr>
          <a:xfrm>
            <a:off x="7466808" y="3054096"/>
            <a:ext cx="182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· 알림</a:t>
            </a:r>
            <a:endParaRPr lang="en-US" sz="9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4055" y="2487168"/>
            <a:ext cx="237744" cy="237744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9705807" y="1920240"/>
            <a:ext cx="1918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0"/>
          <p:cNvSpPr/>
          <p:nvPr/>
        </p:nvSpPr>
        <p:spPr>
          <a:xfrm>
            <a:off x="10336103" y="2121408"/>
            <a:ext cx="658368" cy="658368"/>
          </a:xfrm>
          <a:prstGeom prst="ellipse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37271" y="2322576"/>
            <a:ext cx="256032" cy="25603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751527" y="2816352"/>
            <a:ext cx="182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반영</a:t>
            </a:r>
            <a:endParaRPr lang="en-US" sz="1250" dirty="0"/>
          </a:p>
        </p:txBody>
      </p:sp>
      <p:sp>
        <p:nvSpPr>
          <p:cNvPr id="33" name="Text 22"/>
          <p:cNvSpPr/>
          <p:nvPr/>
        </p:nvSpPr>
        <p:spPr>
          <a:xfrm>
            <a:off x="9751527" y="3054096"/>
            <a:ext cx="182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Policy 업데이트</a:t>
            </a:r>
            <a:endParaRPr lang="en-US" sz="950" dirty="0"/>
          </a:p>
        </p:txBody>
      </p:sp>
      <p:sp>
        <p:nvSpPr>
          <p:cNvPr id="34" name="Shape 23"/>
          <p:cNvSpPr/>
          <p:nvPr/>
        </p:nvSpPr>
        <p:spPr>
          <a:xfrm>
            <a:off x="566928" y="3749040"/>
            <a:ext cx="11057839" cy="1828800"/>
          </a:xfrm>
          <a:prstGeom prst="roundRect">
            <a:avLst>
              <a:gd name="adj" fmla="val 5000"/>
            </a:avLst>
          </a:prstGeom>
          <a:solidFill>
            <a:srgbClr val="F7FAFB"/>
          </a:solidFill>
          <a:ln w="1270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4"/>
          <p:cNvSpPr/>
          <p:nvPr/>
        </p:nvSpPr>
        <p:spPr>
          <a:xfrm>
            <a:off x="932688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 Agent 평가 항목</a:t>
            </a:r>
            <a:endParaRPr lang="en-US" sz="135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688" y="4407408"/>
            <a:ext cx="237744" cy="237744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1261872" y="4389120"/>
            <a:ext cx="29849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Drift 유형 분류</a:t>
            </a:r>
            <a:endParaRPr lang="en-US" sz="120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4794" y="4407408"/>
            <a:ext cx="237744" cy="237744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4703978" y="4389120"/>
            <a:ext cx="29849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 alignment 검사</a:t>
            </a:r>
            <a:endParaRPr lang="en-US" sz="120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6901" y="4407408"/>
            <a:ext cx="237744" cy="237744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8146085" y="4389120"/>
            <a:ext cx="29849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bloat 측정</a:t>
            </a:r>
            <a:endParaRPr lang="en-US" sz="1200" dirty="0"/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688" y="4910328"/>
            <a:ext cx="237744" cy="237744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1261872" y="4892040"/>
            <a:ext cx="29849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/ RAG / Memory 사용 평가</a:t>
            </a:r>
            <a:endParaRPr lang="en-US" sz="1200" dirty="0"/>
          </a:p>
        </p:txBody>
      </p:sp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4794" y="4910328"/>
            <a:ext cx="237744" cy="237744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4703978" y="4892040"/>
            <a:ext cx="29849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Validation issue 생성</a:t>
            </a:r>
            <a:endParaRPr lang="en-US" sz="1200" dirty="0"/>
          </a:p>
        </p:txBody>
      </p:sp>
      <p:pic>
        <p:nvPicPr>
          <p:cNvPr id="4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6901" y="4910328"/>
            <a:ext cx="237744" cy="237744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8146085" y="4892040"/>
            <a:ext cx="29849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계약 위반 탐지</a:t>
            </a:r>
            <a:endParaRPr lang="en-US" sz="1200" dirty="0"/>
          </a:p>
        </p:txBody>
      </p:sp>
      <p:sp>
        <p:nvSpPr>
          <p:cNvPr id="48" name="Shape 31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32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Judge Agent</a:t>
            </a:r>
            <a:endParaRPr lang="en-US" sz="900" dirty="0"/>
          </a:p>
        </p:txBody>
      </p:sp>
      <p:sp>
        <p:nvSpPr>
          <p:cNvPr id="50" name="Text 33"/>
          <p:cNvSpPr/>
          <p:nvPr/>
        </p:nvSpPr>
        <p:spPr>
          <a:xfrm>
            <a:off x="9795967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E892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아키텍처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아키텍처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3950208" y="749808"/>
            <a:ext cx="76745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B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Engineering + LangGraph + Drift Telemetry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41248" y="1874520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8FA3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61288" y="1874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Request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453128" y="18745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사용자 입력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693176" y="2514600"/>
            <a:ext cx="144000" cy="144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" y="2633472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161288" y="26334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Engineering Layer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453128" y="26334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projection · tool selection · RAG/memory selection · compression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693176" y="3273552"/>
            <a:ext cx="144000" cy="144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41248" y="3392424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0B7A7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1161288" y="33924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Graph Execution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453128" y="339242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nodes · edges · tools · LLM · MCP · RAG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693176" y="4032504"/>
            <a:ext cx="144000" cy="1440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41248" y="4151376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1E3A5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/>
          <p:nvPr/>
        </p:nvSpPr>
        <p:spPr>
          <a:xfrm>
            <a:off x="1161288" y="415137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TraceLogger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453128" y="415137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JSONL events · redaction · run_id correlation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693176" y="4791456"/>
            <a:ext cx="144000" cy="1440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41248" y="4910328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E892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/>
          <p:nvPr/>
        </p:nvSpPr>
        <p:spPr>
          <a:xfrm>
            <a:off x="1161288" y="49103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Validation / Judge Agent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453128" y="49103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detection · evidence check · output contract check</a:t>
            </a:r>
            <a:endParaRPr lang="en-US" sz="10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693176" y="5550408"/>
            <a:ext cx="144000" cy="1440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841248" y="5669280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9"/>
          <p:cNvSpPr/>
          <p:nvPr/>
        </p:nvSpPr>
        <p:spPr>
          <a:xfrm>
            <a:off x="1161288" y="5669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Report + Feedback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453128" y="56692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개선 루프: Context Policy / Graph / Prompt / Tool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9025128" y="2377440"/>
            <a:ext cx="2599639" cy="3383280"/>
          </a:xfrm>
          <a:prstGeom prst="roundRect">
            <a:avLst>
              <a:gd name="adj" fmla="val 3517"/>
            </a:avLst>
          </a:prstGeom>
          <a:solidFill>
            <a:srgbClr val="F7FAFB"/>
          </a:solidFill>
          <a:ln w="1270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168" y="2606040"/>
            <a:ext cx="502920" cy="5029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299448" y="3200400"/>
            <a:ext cx="2050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루프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9299448" y="3657600"/>
            <a:ext cx="205099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 Agent의 검증 결과가 Context Policy · Graph · Prompt · Tool 설계로 되돌아가 시스템을 지속적으로 개선합니다.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Judge Agent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9795967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E892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로드맵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로드맵 — 4단계 계획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2524430" cy="3657600"/>
          </a:xfrm>
          <a:prstGeom prst="roundRect">
            <a:avLst>
              <a:gd name="adj" fmla="val 3622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2524430" cy="548640"/>
          </a:xfrm>
          <a:prstGeom prst="rect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95528" y="1920240"/>
            <a:ext cx="20672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" y="2578608"/>
            <a:ext cx="20672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Trace 표준화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3410712"/>
            <a:ext cx="91440" cy="91440"/>
          </a:xfrm>
          <a:prstGeom prst="ellipse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24128" y="3337560"/>
            <a:ext cx="18660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TraceLogger 인터페이스 고정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941064"/>
            <a:ext cx="91440" cy="91440"/>
          </a:xfrm>
          <a:prstGeom prst="ellipse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24128" y="3867912"/>
            <a:ext cx="18660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 schema 문서화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4471416"/>
            <a:ext cx="91440" cy="91440"/>
          </a:xfrm>
          <a:prstGeom prst="ellipse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24128" y="4398264"/>
            <a:ext cx="18660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redaction 강화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5001768"/>
            <a:ext cx="91440" cy="91440"/>
          </a:xfrm>
          <a:prstGeom prst="ellipse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24128" y="4928616"/>
            <a:ext cx="18660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JSONL + collector 이중화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11398" y="1920240"/>
            <a:ext cx="2524430" cy="3657600"/>
          </a:xfrm>
          <a:prstGeom prst="roundRect">
            <a:avLst>
              <a:gd name="adj" fmla="val 3622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411398" y="1920240"/>
            <a:ext cx="2524430" cy="548640"/>
          </a:xfrm>
          <a:prstGeom prst="rect">
            <a:avLst/>
          </a:prstGeom>
          <a:solidFill>
            <a:srgbClr val="0B7A7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639998" y="1920240"/>
            <a:ext cx="20672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39998" y="2578608"/>
            <a:ext cx="20672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구조화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3667430" y="3410712"/>
            <a:ext cx="91440" cy="91440"/>
          </a:xfrm>
          <a:prstGeom prst="ellipse">
            <a:avLst/>
          </a:prstGeom>
          <a:solidFill>
            <a:srgbClr val="0B7A7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868598" y="3337560"/>
            <a:ext cx="18660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schema 정리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67430" y="3941064"/>
            <a:ext cx="91440" cy="91440"/>
          </a:xfrm>
          <a:prstGeom prst="ellipse">
            <a:avLst/>
          </a:prstGeom>
          <a:solidFill>
            <a:srgbClr val="0B7A7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868598" y="3867912"/>
            <a:ext cx="18660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/ summary 분리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67430" y="4471416"/>
            <a:ext cx="91440" cy="91440"/>
          </a:xfrm>
          <a:prstGeom prst="ellipse">
            <a:avLst/>
          </a:prstGeom>
          <a:solidFill>
            <a:srgbClr val="0B7A7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868598" y="4398264"/>
            <a:ext cx="18660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 / hypothesis 분리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67430" y="5001768"/>
            <a:ext cx="91440" cy="91440"/>
          </a:xfrm>
          <a:prstGeom prst="ellipse">
            <a:avLst/>
          </a:prstGeom>
          <a:solidFill>
            <a:srgbClr val="0B7A7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868598" y="4928616"/>
            <a:ext cx="18660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node별 context projection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55868" y="1920240"/>
            <a:ext cx="2524430" cy="3657600"/>
          </a:xfrm>
          <a:prstGeom prst="roundRect">
            <a:avLst>
              <a:gd name="adj" fmla="val 3622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255868" y="1920240"/>
            <a:ext cx="2524430" cy="548640"/>
          </a:xfrm>
          <a:prstGeom prst="rect">
            <a:avLst/>
          </a:prstGeom>
          <a:solidFill>
            <a:srgbClr val="E892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484468" y="1920240"/>
            <a:ext cx="20672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84468" y="2578608"/>
            <a:ext cx="20672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Drift Judge 강화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6511900" y="3410712"/>
            <a:ext cx="91440" cy="91440"/>
          </a:xfrm>
          <a:prstGeom prst="ellipse">
            <a:avLst/>
          </a:prstGeom>
          <a:solidFill>
            <a:srgbClr val="E892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713068" y="3337560"/>
            <a:ext cx="18660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trace 기반 drift rule 구현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11900" y="3941064"/>
            <a:ext cx="91440" cy="91440"/>
          </a:xfrm>
          <a:prstGeom prst="ellipse">
            <a:avLst/>
          </a:prstGeom>
          <a:solidFill>
            <a:srgbClr val="E892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713068" y="3867912"/>
            <a:ext cx="18660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LLM-as-a-Judge 평가 추가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11900" y="4471416"/>
            <a:ext cx="91440" cy="91440"/>
          </a:xfrm>
          <a:prstGeom prst="ellipse">
            <a:avLst/>
          </a:prstGeom>
          <a:solidFill>
            <a:srgbClr val="E892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713068" y="4398264"/>
            <a:ext cx="18660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regression fixture 구성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100337" y="1920240"/>
            <a:ext cx="2524430" cy="3657600"/>
          </a:xfrm>
          <a:prstGeom prst="roundRect">
            <a:avLst>
              <a:gd name="adj" fmla="val 3622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88900" dist="25400" dir="5400000" algn="bl" rotWithShape="0">
              <a:srgbClr val="0F1E2E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9100337" y="1920240"/>
            <a:ext cx="2524430" cy="548640"/>
          </a:xfrm>
          <a:prstGeom prst="rect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9328937" y="1920240"/>
            <a:ext cx="20672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328937" y="2578608"/>
            <a:ext cx="20672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운영화</a:t>
            </a:r>
            <a:endParaRPr lang="en-US" sz="1550" dirty="0"/>
          </a:p>
        </p:txBody>
      </p:sp>
      <p:sp>
        <p:nvSpPr>
          <p:cNvPr id="42" name="Shape 40"/>
          <p:cNvSpPr/>
          <p:nvPr/>
        </p:nvSpPr>
        <p:spPr>
          <a:xfrm>
            <a:off x="9356369" y="3410712"/>
            <a:ext cx="91440" cy="91440"/>
          </a:xfrm>
          <a:prstGeom prst="ellipse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9557537" y="3337560"/>
            <a:ext cx="18660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 &amp; alert 구축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356369" y="3941064"/>
            <a:ext cx="91440" cy="91440"/>
          </a:xfrm>
          <a:prstGeom prst="ellipse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9557537" y="3867912"/>
            <a:ext cx="18660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prompt/tool/version 비교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356369" y="4471416"/>
            <a:ext cx="91440" cy="91440"/>
          </a:xfrm>
          <a:prstGeom prst="ellipse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9557537" y="4398264"/>
            <a:ext cx="18660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budget 추적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Judge Agent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795967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9436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0EA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00320" cy="1600200"/>
          </a:xfrm>
          <a:prstGeom prst="roundRect">
            <a:avLst>
              <a:gd name="adj" fmla="val 5714"/>
            </a:avLst>
          </a:prstGeom>
          <a:solidFill>
            <a:srgbClr val="16293B"/>
          </a:solidFill>
          <a:ln w="12700">
            <a:solidFill>
              <a:srgbClr val="2441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86968" y="2148840"/>
            <a:ext cx="548640" cy="548640"/>
          </a:xfrm>
          <a:prstGeom prst="ellipse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86968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18488" y="2121408"/>
            <a:ext cx="402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압축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18488" y="2560320"/>
            <a:ext cx="397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Drain3로 반복 로그를 템플릿화해 LLM 토큰을 절감하고, template_id로 원본 추적성을 유지한다.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24448" y="1828800"/>
            <a:ext cx="5300320" cy="1600200"/>
          </a:xfrm>
          <a:prstGeom prst="roundRect">
            <a:avLst>
              <a:gd name="adj" fmla="val 5714"/>
            </a:avLst>
          </a:prstGeom>
          <a:solidFill>
            <a:srgbClr val="16293B"/>
          </a:solidFill>
          <a:ln w="12700">
            <a:solidFill>
              <a:srgbClr val="2441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644488" y="2148840"/>
            <a:ext cx="548640" cy="548640"/>
          </a:xfrm>
          <a:prstGeom prst="ellipse">
            <a:avLst/>
          </a:prstGeom>
          <a:solidFill>
            <a:srgbClr val="0B7A7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644488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76008" y="2121408"/>
            <a:ext cx="402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Engineering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376008" y="2560320"/>
            <a:ext cx="397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무엇을 보고 판단할지 설계하고, Write·Select·Compress·Isolate로 컨텍스트를 통제한다.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703320"/>
            <a:ext cx="5300320" cy="1600200"/>
          </a:xfrm>
          <a:prstGeom prst="roundRect">
            <a:avLst>
              <a:gd name="adj" fmla="val 5714"/>
            </a:avLst>
          </a:prstGeom>
          <a:solidFill>
            <a:srgbClr val="16293B"/>
          </a:solidFill>
          <a:ln w="12700">
            <a:solidFill>
              <a:srgbClr val="2441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86968" y="4023360"/>
            <a:ext cx="548640" cy="548640"/>
          </a:xfrm>
          <a:prstGeom prst="ellipse">
            <a:avLst/>
          </a:prstGeom>
          <a:solidFill>
            <a:srgbClr val="E892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86968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18488" y="3995928"/>
            <a:ext cx="402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Drift Telemetry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18488" y="4434840"/>
            <a:ext cx="397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실제로 어떤 context와 도구를 사용했는지 기록하는 증거 계층을 만든다.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24448" y="3703320"/>
            <a:ext cx="5300320" cy="1600200"/>
          </a:xfrm>
          <a:prstGeom prst="roundRect">
            <a:avLst>
              <a:gd name="adj" fmla="val 5714"/>
            </a:avLst>
          </a:prstGeom>
          <a:solidFill>
            <a:srgbClr val="16293B"/>
          </a:solidFill>
          <a:ln w="12700">
            <a:solidFill>
              <a:srgbClr val="2441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644488" y="4023360"/>
            <a:ext cx="548640" cy="548640"/>
          </a:xfrm>
          <a:prstGeom prst="ellipse">
            <a:avLst/>
          </a:prstGeom>
          <a:solidFill>
            <a:srgbClr val="0EA5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644488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76008" y="3995928"/>
            <a:ext cx="402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 Agent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376008" y="4434840"/>
            <a:ext cx="397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trace를 기반으로 drift · evidence alignment · 출력 계약 위반을 평가하는 검증자를 둔다.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571500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0EA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“운영 가능한 시스템은 좋은 답을 한 번 생성하는 게 아니라, 왜 그 답이 나왔는지 재현·검증·개선할 수 있는 시스템이다.”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2074</Words>
  <Application>Microsoft Office PowerPoint</Application>
  <PresentationFormat>와이드스크린</PresentationFormat>
  <Paragraphs>457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대용량 로그 분석 &amp; Judge Agent</dc:title>
  <dc:subject>PptxGenJS Presentation</dc:subject>
  <dc:creator>승하</dc:creator>
  <cp:lastModifiedBy>승하 이</cp:lastModifiedBy>
  <cp:revision>5</cp:revision>
  <dcterms:created xsi:type="dcterms:W3CDTF">2026-05-26T22:21:17Z</dcterms:created>
  <dcterms:modified xsi:type="dcterms:W3CDTF">2026-05-26T22:29:12Z</dcterms:modified>
</cp:coreProperties>
</file>